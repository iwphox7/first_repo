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8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1815"/>
                </a:solidFill>
                <a:latin typeface="Calibri"/>
              </a:rPr>
              <a:t>Copper content, % (min. or nominal)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 %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Barley</c:v>
                  </c:pt>
                  <c:pt idx="1">
                    <c:v>Berry</c:v>
                  </c:pt>
                  <c:pt idx="2">
                    <c:v>Cobra</c:v>
                  </c:pt>
                  <c:pt idx="3">
                    <c:v>Birch</c:v>
                  </c:pt>
                  <c:pt idx="4">
                    <c:v>Cliff</c:v>
                  </c:pt>
                  <c:pt idx="5">
                    <c:v>Dream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99</c:v>
                </c:pt>
                <c:pt idx="2">
                  <c:v>97</c:v>
                </c:pt>
                <c:pt idx="3">
                  <c:v>96</c:v>
                </c:pt>
                <c:pt idx="4">
                  <c:v>96</c:v>
                </c:pt>
                <c:pt idx="5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8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b"/>
        <c:majorGridlines>
          <c:spPr>
            <a:ln w="6350" cap="flat">
              <a:solidFill>
                <a:srgbClr val="E4D8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8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1815"/>
                </a:solidFill>
                <a:latin typeface="Calibri"/>
              </a:rPr>
              <a:t>India copper scrap imports, million kg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 scrap imports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 est.</c:v>
                  </c:pt>
                  <c:pt idx="2">
                    <c:v>2026 est.</c:v>
                  </c:pt>
                  <c:pt idx="3">
                    <c:v>2028 forecast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219.44</c:v>
                </c:pt>
                <c:pt idx="1">
                  <c:v>223.65</c:v>
                </c:pt>
                <c:pt idx="2">
                  <c:v>228.33</c:v>
                </c:pt>
                <c:pt idx="3">
                  <c:v>238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18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"/>
          <c:min val="200"/>
        </c:scaling>
        <c:delete val="0"/>
        <c:axPos val="l"/>
        <c:majorGridlines>
          <c:spPr>
            <a:ln w="6350" cap="flat">
              <a:solidFill>
                <a:srgbClr val="E4D8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8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1815"/>
                </a:solidFill>
                <a:latin typeface="Calibri"/>
              </a:rPr>
              <a:t>India copper alloys market, US$ bn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2034 proj.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2.7</c:v>
                </c:pt>
                <c:pt idx="1">
                  <c:v>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18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4D8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headline counts come from the copper and brass scrap procurement report dated 4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Alloys  |  Month-end report  |  6 Sep - 6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MONTH-END REPORT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Alloys, Procurement &amp; Sales Research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September – 6 October 2026   |   Bajaj Alloys, Bhiwadi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3D2E26"/>
          </a:solidFill>
          <a:ln w="12700">
            <a:solidFill>
              <a:srgbClr val="3D2E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023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grades profiled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38404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3D2E26"/>
          </a:solidFill>
          <a:ln w="12700">
            <a:solidFill>
              <a:srgbClr val="3D2E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4023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platforms mapped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38404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3D2E26"/>
          </a:solidFill>
          <a:ln w="12700">
            <a:solidFill>
              <a:srgbClr val="3D2E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4023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reviewed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38404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3D2E26"/>
          </a:solidFill>
          <a:ln w="12700">
            <a:solidFill>
              <a:srgbClr val="3D2E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4023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conflicts flagged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grades profiled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copper, 5 brass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mapped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697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govt, 8 private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reviewed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97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figure cited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conflicts flagged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97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rate, old price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128016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pending spec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697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Ocean, Cocoa, Clove, Drove, Tone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21240" y="128016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steps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2697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to delivered cost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workstreams delivered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9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research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029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 copper and brass grades, specifications and Cu content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64992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64992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9B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47872" y="4343400"/>
            <a:ext cx="502920" cy="5029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47872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4187952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report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547872" y="5029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report, 4 Oct 2026: platforms, grades, sourcing approach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81344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81344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9B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4343400"/>
            <a:ext cx="502920" cy="5029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64224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7004304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deep analysis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5029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imports, duty, demand and delivered-cost logic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997696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97696" y="416052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9B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0576" y="4343400"/>
            <a:ext cx="502920" cy="5029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80576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9820656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research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180576" y="5029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size, demand sectors and price markers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Alloys covered: 12 ISRI grades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GRADES (7)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Barley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 bare bright copper wire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57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 copper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70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Candy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 heavy copper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2 copper wire nodules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941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2 copper wire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206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2 copper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183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copper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C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 &amp; BRONZE GRADES (5)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23360" y="164592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6052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brass solids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23360" y="2157984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0520" y="2157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Ebony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or red brass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23360" y="2670048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0520" y="2670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brass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23360" y="3182112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0520" y="31821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 small-arms shells (70/30)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23360" y="3694176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0520" y="36941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Ebulent  </a:t>
            </a:r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Lead-free bismuth brass</a:t>
            </a:r>
            <a:endParaRPr lang="en-US" sz="14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7589520" y="1188720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7589520" y="5303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85%. Candy is unalloyed with no % stated.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5440680"/>
            <a:ext cx="6949440" cy="777240"/>
          </a:xfrm>
          <a:prstGeom prst="roundRect">
            <a:avLst>
              <a:gd name="adj" fmla="val 14118"/>
            </a:avLst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54406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tracked in alerts: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gunmetal, bronze, radiator, cable, turnings, aluminium scrap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5760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ISRI Scrap Specifications Circular; Bajaj Alloys procurement report, 4 Oct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report: where to buy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MSTC e-Auction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register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IREPS (Railways)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brass, copper depot scrap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mjunction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large corporate lots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Metaljunction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non-ferrous 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BidMyScrap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turnings, offcuts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Metalbook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quote-based buying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Govt: MSTC alone is 50–52% scrap revenue; Railways sell Rs 3,500–4,000 crore of scrap a year.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playbook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680960" y="173736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MSTC and IREPS (Class III DSC)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260604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mjunction, Metaljunction, BidMyScrap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0" y="347472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ISRI grade and Cu % in every PO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80960" y="434340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297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lots; check iron, lead, moisture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80960" y="521208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5166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delivered cost per kg of copper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procurement report sections 3–6 (MSTC, IREPS, platform sites).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deep analysis: imports and cost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200. 2025 and 2026 derived from published +1.92% and +2.09% growth.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75120" y="128016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US$14,347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spot per tonne, 2 Oct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235440" y="128016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7260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890–990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 scrap per kg, Oct 2026 quotes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75120" y="329184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1228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duty on Cu and brass scrap (IGST 18% applies)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235440" y="329184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7260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share of global brass scrap import shipments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669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nil duty, imports from the US, Saudi Arabia and UAE compete with domestic lots on delivered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research: demand outlook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estimate, about 5.6% a year. India copper demand: 1.878 Mt in FY25, +9.3%.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120640" y="1280160"/>
            <a:ext cx="6492240" cy="1234440"/>
          </a:xfrm>
          <a:prstGeom prst="roundRect">
            <a:avLst>
              <a:gd name="adj" fmla="val 8889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9240" y="13898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demand sits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17556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and electronics lead (about 45% globally). Also plumbing fittings, valves, auto and EV, construction.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2651760"/>
            <a:ext cx="6492240" cy="1234440"/>
          </a:xfrm>
          <a:prstGeom prst="roundRect">
            <a:avLst>
              <a:gd name="adj" fmla="val 8889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27614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markers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31272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 rod about US$8.15/kg in Q2 2026 (est.). Ingot listings range Rs 330–850/kg asking.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4023360"/>
            <a:ext cx="6492240" cy="1234440"/>
          </a:xfrm>
          <a:prstGeom prst="roundRect">
            <a:avLst>
              <a:gd name="adj" fmla="val 8889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9240" y="41330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found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44988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Bhiwadi or Jamnagar buyer data and no India sector split found. Needs primary research.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0640" y="5440680"/>
            <a:ext cx="6492240" cy="868680"/>
          </a:xfrm>
          <a:prstGeom prst="roundRect">
            <a:avLst>
              <a:gd name="adj" fmla="val 12632"/>
            </a:avLst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54406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buyer list by segment (plumbing, electrical, auto) and collect dated price quotes.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852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IMARC, Roots Analysis, ICA India, Expert Market Research, B2B listings.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scorecard and next month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with verified spec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 conflicts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 researched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registered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 results collected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buyer leads 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709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proposals for review. Bajaj Alloys' own volumes were not available.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8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month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MSTC, IREPS and mjunction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40880" y="251460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468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duty rate for HSN 7404 on CBIC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40880" y="324612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ISRI specs for 5 pending grades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040880" y="397764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monthly tonnage and grades from Bajaj Alloys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470916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4663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past auction prices after registration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figures are dealer quotes from search extracts, not auction clearing prices. Verify each source before a purchase decision.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jaj Alloys Copper">
  <a:themeElements>
    <a:clrScheme name="Bajaj Alloys Copper">
      <a:dk1>
        <a:srgbClr val="1E1815"/>
      </a:dk1>
      <a:lt1>
        <a:srgbClr val="FFFFFF"/>
      </a:lt1>
      <a:dk2>
        <a:srgbClr val="3A2A22"/>
      </a:dk2>
      <a:lt2>
        <a:srgbClr val="F4EEE8"/>
      </a:lt2>
      <a:accent1>
        <a:srgbClr val="B5651D"/>
      </a:accent1>
      <a:accent2>
        <a:srgbClr val="D9A441"/>
      </a:accent2>
      <a:accent3>
        <a:srgbClr val="7A8B6F"/>
      </a:accent3>
      <a:accent4>
        <a:srgbClr val="8C4A2F"/>
      </a:accent4>
      <a:accent5>
        <a:srgbClr val="5F6B73"/>
      </a:accent5>
      <a:accent6>
        <a:srgbClr val="C9B79C"/>
      </a:accent6>
      <a:hlink>
        <a:srgbClr val="B5651D"/>
      </a:hlink>
      <a:folHlink>
        <a:srgbClr val="8C4A2F"/>
      </a:folHlink>
    </a:clrScheme>
    <a:fontScheme name="Bajaj Alloys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Bajaj Alloys Month-End Report 6 Sep - 6 Oct 2026</dc:title>
  <dc:subject>PptxGenJS Presentation</dc:subject>
  <dc:creator>PptxGenJS</dc:creator>
  <cp:lastModifiedBy>PptxGenJS</cp:lastModifiedBy>
  <cp:revision>1</cp:revision>
  <dcterms:created xsi:type="dcterms:W3CDTF">2026-10-19T11:18:52Z</dcterms:created>
  <dcterms:modified xsi:type="dcterms:W3CDTF">2026-10-19T11:18:52Z</dcterms:modified>
</cp:coreProperties>
</file>